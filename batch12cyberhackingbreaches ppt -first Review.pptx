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7" r:id="rId2"/>
    <p:sldId id="258" r:id="rId3"/>
    <p:sldId id="264" r:id="rId4"/>
    <p:sldId id="265" r:id="rId5"/>
    <p:sldId id="266" r:id="rId6"/>
    <p:sldId id="267" r:id="rId7"/>
    <p:sldId id="268" r:id="rId8"/>
    <p:sldId id="269" r:id="rId9"/>
    <p:sldId id="271" r:id="rId10"/>
    <p:sldId id="272"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58F388-BCDE-47E7-85EE-058620B232B3}" v="1" dt="2024-03-12T04:29:43.04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4"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reen Taj" userId="5d769dadba9eb613" providerId="LiveId" clId="{BC58F388-BCDE-47E7-85EE-058620B232B3}"/>
    <pc:docChg chg="custSel modSld">
      <pc:chgData name="Shabreen Taj" userId="5d769dadba9eb613" providerId="LiveId" clId="{BC58F388-BCDE-47E7-85EE-058620B232B3}" dt="2024-03-12T04:30:53.409" v="66" actId="20577"/>
      <pc:docMkLst>
        <pc:docMk/>
      </pc:docMkLst>
      <pc:sldChg chg="modSp mod">
        <pc:chgData name="Shabreen Taj" userId="5d769dadba9eb613" providerId="LiveId" clId="{BC58F388-BCDE-47E7-85EE-058620B232B3}" dt="2024-03-12T04:30:53.409" v="66" actId="20577"/>
        <pc:sldMkLst>
          <pc:docMk/>
          <pc:sldMk cId="0" sldId="257"/>
        </pc:sldMkLst>
        <pc:graphicFrameChg chg="modGraphic">
          <ac:chgData name="Shabreen Taj" userId="5d769dadba9eb613" providerId="LiveId" clId="{BC58F388-BCDE-47E7-85EE-058620B232B3}" dt="2024-03-12T04:30:53.409" v="66" actId="20577"/>
          <ac:graphicFrameMkLst>
            <pc:docMk/>
            <pc:sldMk cId="0" sldId="257"/>
            <ac:graphicFrameMk id="16" creationId="{00000000-0000-0000-0000-000000000000}"/>
          </ac:graphicFrameMkLst>
        </pc:graphicFrameChg>
      </pc:sldChg>
      <pc:sldChg chg="modSp mod">
        <pc:chgData name="Shabreen Taj" userId="5d769dadba9eb613" providerId="LiveId" clId="{BC58F388-BCDE-47E7-85EE-058620B232B3}" dt="2024-03-12T04:29:43.185" v="1" actId="27636"/>
        <pc:sldMkLst>
          <pc:docMk/>
          <pc:sldMk cId="0" sldId="272"/>
        </pc:sldMkLst>
        <pc:spChg chg="mod">
          <ac:chgData name="Shabreen Taj" userId="5d769dadba9eb613" providerId="LiveId" clId="{BC58F388-BCDE-47E7-85EE-058620B232B3}" dt="2024-03-12T04:29:43.185" v="1" actId="27636"/>
          <ac:spMkLst>
            <pc:docMk/>
            <pc:sldMk cId="0" sldId="272"/>
            <ac:spMk id="3" creationId="{00000000-0000-0000-0000-000000000000}"/>
          </ac:spMkLst>
        </pc:spChg>
      </pc:sldChg>
      <pc:sldChg chg="addSp modSp">
        <pc:chgData name="Shabreen Taj" userId="5d769dadba9eb613" providerId="LiveId" clId="{BC58F388-BCDE-47E7-85EE-058620B232B3}" dt="2024-03-12T04:29:43.044" v="0"/>
        <pc:sldMkLst>
          <pc:docMk/>
          <pc:sldMk cId="0" sldId="274"/>
        </pc:sldMkLst>
        <pc:picChg chg="add mod">
          <ac:chgData name="Shabreen Taj" userId="5d769dadba9eb613" providerId="LiveId" clId="{BC58F388-BCDE-47E7-85EE-058620B232B3}" dt="2024-03-12T04:29:43.044" v="0"/>
          <ac:picMkLst>
            <pc:docMk/>
            <pc:sldMk cId="0" sldId="274"/>
            <ac:picMk id="2" creationId="{25BE5DD5-8129-83AD-1D16-E37F4AE3C0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0A26BF-28BA-4470-AD22-1CDE8E7C5DF4}"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49BD9-4435-4E29-AE6B-5CDCA93F7C5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FFEC9B6-B1A2-4DD8-83C4-5EFB1867EE75}" type="datetime3">
              <a:rPr lang="en-US" smtClean="0"/>
              <a:t>12 March 2024</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BCA0EA-184F-4C2F-A642-721384861A88}" type="datetime3">
              <a:rPr lang="en-US" smtClean="0"/>
              <a:t>12 March 2024</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490364-789F-416E-991F-DC15119B4097}" type="datetime3">
              <a:rPr lang="en-US" smtClean="0"/>
              <a:t>12 March 2024</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32FE1F-CD19-4ABB-964A-E86191EA1621}" type="datetime3">
              <a:rPr lang="en-US" smtClean="0"/>
              <a:t>12 March 2024</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831860-8C96-4262-BBE5-AF88B03F12A8}" type="datetime3">
              <a:rPr lang="en-US" smtClean="0"/>
              <a:t>12 March 2024</a:t>
            </a:fld>
            <a:endParaRPr lang="en-US"/>
          </a:p>
        </p:txBody>
      </p:sp>
      <p:sp>
        <p:nvSpPr>
          <p:cNvPr id="8" name="Footer Placeholder 7"/>
          <p:cNvSpPr>
            <a:spLocks noGrp="1"/>
          </p:cNvSpPr>
          <p:nvPr>
            <p:ph type="ftr" sz="quarter" idx="11"/>
          </p:nvPr>
        </p:nvSpPr>
        <p:spPr/>
        <p:txBody>
          <a:bodyPr/>
          <a:lstStyle/>
          <a:p>
            <a:r>
              <a:rPr lang="en-US"/>
              <a:t>Project Title</a:t>
            </a:r>
          </a:p>
        </p:txBody>
      </p:sp>
      <p:sp>
        <p:nvSpPr>
          <p:cNvPr id="9" name="Slide Number Placeholder 8"/>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F80771-F4A4-452A-9FA9-D6CF93982E4F}" type="datetime3">
              <a:rPr lang="en-US" smtClean="0"/>
              <a:t>12 March 2024</a:t>
            </a:fld>
            <a:endParaRPr lang="en-US"/>
          </a:p>
        </p:txBody>
      </p:sp>
      <p:sp>
        <p:nvSpPr>
          <p:cNvPr id="4" name="Footer Placeholder 3"/>
          <p:cNvSpPr>
            <a:spLocks noGrp="1"/>
          </p:cNvSpPr>
          <p:nvPr>
            <p:ph type="ftr" sz="quarter" idx="11"/>
          </p:nvPr>
        </p:nvSpPr>
        <p:spPr/>
        <p:txBody>
          <a:bodyPr/>
          <a:lstStyle/>
          <a:p>
            <a:r>
              <a:rPr lang="en-US"/>
              <a:t>Project Title</a:t>
            </a:r>
          </a:p>
        </p:txBody>
      </p:sp>
      <p:sp>
        <p:nvSpPr>
          <p:cNvPr id="5" name="Slide Number Placeholder 4"/>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DD6C0-0BCB-4E2B-931E-BDF5D846E351}" type="datetime3">
              <a:rPr lang="en-US" smtClean="0"/>
              <a:t>12 March 2024</a:t>
            </a:fld>
            <a:endParaRPr lang="en-US"/>
          </a:p>
        </p:txBody>
      </p:sp>
      <p:sp>
        <p:nvSpPr>
          <p:cNvPr id="3" name="Footer Placeholder 2"/>
          <p:cNvSpPr>
            <a:spLocks noGrp="1"/>
          </p:cNvSpPr>
          <p:nvPr>
            <p:ph type="ftr" sz="quarter" idx="11"/>
          </p:nvPr>
        </p:nvSpPr>
        <p:spPr/>
        <p:txBody>
          <a:bodyPr/>
          <a:lstStyle/>
          <a:p>
            <a:r>
              <a:rPr lang="en-US"/>
              <a:t>Project Title</a:t>
            </a:r>
          </a:p>
        </p:txBody>
      </p:sp>
      <p:sp>
        <p:nvSpPr>
          <p:cNvPr id="4" name="Slide Number Placeholder 3"/>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1FB424-F337-4A33-92EF-C78CBD9DEE3F}" type="datetime3">
              <a:rPr lang="en-US" smtClean="0"/>
              <a:t>12 March 2024</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9FFF05-B712-4B52-B63A-6C7619B3E917}" type="datetime3">
              <a:rPr lang="en-US" smtClean="0"/>
              <a:t>12 March 2024</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00D2BF-9FD1-4437-8FF4-B169FD269467}" type="datetime3">
              <a:rPr lang="en-US" smtClean="0"/>
              <a:t>12 March 2024</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B99DC9-6118-4FF3-B576-FA9C07A2CFA8}" type="datetime3">
              <a:rPr lang="en-US" smtClean="0"/>
              <a:t>12 March 2024</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21EDD516-E627-40A7-A381-D087B578B06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0537E3-D2F5-4CEE-A63F-9031D52416AE}" type="datetime3">
              <a:rPr lang="en-US" smtClean="0"/>
              <a:t>12 March 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Project Title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EDD516-E627-40A7-A381-D087B578B06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603021"/>
            <a:ext cx="9144000" cy="4301067"/>
          </a:xfrm>
        </p:spPr>
        <p:txBody>
          <a:bodyPr>
            <a:normAutofit/>
          </a:bodyPr>
          <a:lstStyle/>
          <a:p>
            <a:r>
              <a:rPr lang="en-US" sz="3200" b="1" dirty="0">
                <a:solidFill>
                  <a:srgbClr val="00B050"/>
                </a:solidFill>
                <a:latin typeface="Cambria" panose="02040503050406030204" pitchFamily="18" charset="0"/>
                <a:ea typeface="Cambria" panose="02040503050406030204" pitchFamily="18" charset="0"/>
              </a:rPr>
              <a:t>Department of </a:t>
            </a:r>
            <a:r>
              <a:rPr lang="en-US" sz="3200" b="1" dirty="0">
                <a:solidFill>
                  <a:srgbClr val="FF0000"/>
                </a:solidFill>
                <a:latin typeface="Cambria" panose="02040503050406030204" pitchFamily="18" charset="0"/>
                <a:ea typeface="Cambria" panose="02040503050406030204" pitchFamily="18" charset="0"/>
              </a:rPr>
              <a:t>C</a:t>
            </a:r>
            <a:r>
              <a:rPr lang="en-US" sz="3200" b="1" dirty="0">
                <a:solidFill>
                  <a:srgbClr val="00B050"/>
                </a:solidFill>
                <a:latin typeface="Cambria" panose="02040503050406030204" pitchFamily="18" charset="0"/>
                <a:ea typeface="Cambria" panose="02040503050406030204" pitchFamily="18" charset="0"/>
              </a:rPr>
              <a:t>omputer </a:t>
            </a:r>
            <a:r>
              <a:rPr lang="en-US" sz="3200" b="1" dirty="0">
                <a:solidFill>
                  <a:srgbClr val="FF0000"/>
                </a:solidFill>
                <a:latin typeface="Cambria" panose="02040503050406030204" pitchFamily="18" charset="0"/>
                <a:ea typeface="Cambria" panose="02040503050406030204" pitchFamily="18" charset="0"/>
              </a:rPr>
              <a:t>S</a:t>
            </a:r>
            <a:r>
              <a:rPr lang="en-US" sz="3200" b="1" dirty="0">
                <a:solidFill>
                  <a:srgbClr val="00B050"/>
                </a:solidFill>
                <a:latin typeface="Cambria" panose="02040503050406030204" pitchFamily="18" charset="0"/>
                <a:ea typeface="Cambria" panose="02040503050406030204" pitchFamily="18" charset="0"/>
              </a:rPr>
              <a:t>cience &amp; </a:t>
            </a:r>
            <a:r>
              <a:rPr lang="en-US" sz="3200" b="1" dirty="0">
                <a:solidFill>
                  <a:srgbClr val="FF0000"/>
                </a:solidFill>
                <a:latin typeface="Cambria" panose="02040503050406030204" pitchFamily="18" charset="0"/>
                <a:ea typeface="Cambria" panose="02040503050406030204" pitchFamily="18" charset="0"/>
              </a:rPr>
              <a:t>E</a:t>
            </a:r>
            <a:r>
              <a:rPr lang="en-US" sz="3200" b="1" dirty="0">
                <a:solidFill>
                  <a:srgbClr val="00B050"/>
                </a:solidFill>
                <a:latin typeface="Cambria" panose="02040503050406030204" pitchFamily="18" charset="0"/>
                <a:ea typeface="Cambria" panose="02040503050406030204" pitchFamily="18" charset="0"/>
              </a:rPr>
              <a:t>ngineering</a:t>
            </a:r>
          </a:p>
          <a:p>
            <a:r>
              <a:rPr lang="en-US" sz="3200" b="1" dirty="0">
                <a:solidFill>
                  <a:srgbClr val="7030A0"/>
                </a:solidFill>
                <a:latin typeface="Cambria" panose="02040503050406030204" pitchFamily="18" charset="0"/>
                <a:ea typeface="Cambria" panose="02040503050406030204" pitchFamily="18" charset="0"/>
              </a:rPr>
              <a:t>B. Tech IV-II Project Work</a:t>
            </a:r>
          </a:p>
          <a:p>
            <a:r>
              <a:rPr lang="en-US" sz="2800" b="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MODELLING AND PREDICTING CYBER HACKING BREACHES</a:t>
            </a:r>
          </a:p>
          <a:p>
            <a:pPr algn="l"/>
            <a:endParaRPr lang="en-US"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l"/>
            <a:endParaRPr lang="en-US"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endParaRPr lang="en-US" sz="3200" b="1" dirty="0">
              <a:solidFill>
                <a:srgbClr val="00B050"/>
              </a:solidFill>
              <a:latin typeface="Cambria" panose="02040503050406030204" pitchFamily="18" charset="0"/>
              <a:ea typeface="Cambria" panose="02040503050406030204" pitchFamily="18" charset="0"/>
            </a:endParaRPr>
          </a:p>
        </p:txBody>
      </p:sp>
      <p:sp>
        <p:nvSpPr>
          <p:cNvPr id="4" name="Date Placeholder 3"/>
          <p:cNvSpPr>
            <a:spLocks noGrp="1"/>
          </p:cNvSpPr>
          <p:nvPr>
            <p:ph type="dt" sz="half" idx="10"/>
          </p:nvPr>
        </p:nvSpPr>
        <p:spPr/>
        <p:txBody>
          <a:bodyPr/>
          <a:lstStyle/>
          <a:p>
            <a:r>
              <a:rPr lang="en-US"/>
              <a:t>12 MARCH 2024</a:t>
            </a:r>
          </a:p>
        </p:txBody>
      </p:sp>
      <p:sp>
        <p:nvSpPr>
          <p:cNvPr id="5" name="Footer Placeholder 4"/>
          <p:cNvSpPr>
            <a:spLocks noGrp="1"/>
          </p:cNvSpPr>
          <p:nvPr>
            <p:ph type="ftr" sz="quarter" idx="11"/>
          </p:nvPr>
        </p:nvSpPr>
        <p:spPr>
          <a:xfrm>
            <a:off x="4004733" y="6367639"/>
            <a:ext cx="4114800" cy="365125"/>
          </a:xfrm>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p>
        </p:txBody>
      </p:sp>
      <p:sp>
        <p:nvSpPr>
          <p:cNvPr id="6" name="Slide Number Placeholder 5"/>
          <p:cNvSpPr>
            <a:spLocks noGrp="1"/>
          </p:cNvSpPr>
          <p:nvPr>
            <p:ph type="sldNum" sz="quarter" idx="12"/>
          </p:nvPr>
        </p:nvSpPr>
        <p:spPr/>
        <p:txBody>
          <a:bodyPr/>
          <a:lstStyle/>
          <a:p>
            <a:fld id="{21EDD516-E627-40A7-A381-D087B578B068}"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pic>
        <p:nvPicPr>
          <p:cNvPr id="10" name="Picture 9"/>
          <p:cNvPicPr>
            <a:picLocks noChangeAspect="1"/>
          </p:cNvPicPr>
          <p:nvPr/>
        </p:nvPicPr>
        <p:blipFill>
          <a:blip r:embed="rId3"/>
          <a:stretch>
            <a:fillRect/>
          </a:stretch>
        </p:blipFill>
        <p:spPr>
          <a:xfrm>
            <a:off x="1298222" y="309813"/>
            <a:ext cx="9437511" cy="1191609"/>
          </a:xfrm>
          <a:prstGeom prst="rect">
            <a:avLst/>
          </a:prstGeom>
        </p:spPr>
      </p:pic>
      <p:graphicFrame>
        <p:nvGraphicFramePr>
          <p:cNvPr id="16" name="Table 16"/>
          <p:cNvGraphicFramePr>
            <a:graphicFrameLocks noGrp="1"/>
          </p:cNvGraphicFramePr>
          <p:nvPr>
            <p:extLst>
              <p:ext uri="{D42A27DB-BD31-4B8C-83A1-F6EECF244321}">
                <p14:modId xmlns:p14="http://schemas.microsoft.com/office/powerpoint/2010/main" val="1538231158"/>
              </p:ext>
            </p:extLst>
          </p:nvPr>
        </p:nvGraphicFramePr>
        <p:xfrm>
          <a:off x="1738488" y="3838903"/>
          <a:ext cx="9290755" cy="2166785"/>
        </p:xfrm>
        <a:graphic>
          <a:graphicData uri="http://schemas.openxmlformats.org/drawingml/2006/table">
            <a:tbl>
              <a:tblPr firstRow="1" bandRow="1">
                <a:tableStyleId>{5C22544A-7EE6-4342-B048-85BDC9FD1C3A}</a:tableStyleId>
              </a:tblPr>
              <a:tblGrid>
                <a:gridCol w="993595">
                  <a:extLst>
                    <a:ext uri="{9D8B030D-6E8A-4147-A177-3AD203B41FA5}">
                      <a16:colId xmlns:a16="http://schemas.microsoft.com/office/drawing/2014/main" val="20000"/>
                    </a:ext>
                  </a:extLst>
                </a:gridCol>
                <a:gridCol w="1625428">
                  <a:extLst>
                    <a:ext uri="{9D8B030D-6E8A-4147-A177-3AD203B41FA5}">
                      <a16:colId xmlns:a16="http://schemas.microsoft.com/office/drawing/2014/main" val="20001"/>
                    </a:ext>
                  </a:extLst>
                </a:gridCol>
                <a:gridCol w="3330222">
                  <a:extLst>
                    <a:ext uri="{9D8B030D-6E8A-4147-A177-3AD203B41FA5}">
                      <a16:colId xmlns:a16="http://schemas.microsoft.com/office/drawing/2014/main" val="20002"/>
                    </a:ext>
                  </a:extLst>
                </a:gridCol>
                <a:gridCol w="3341510">
                  <a:extLst>
                    <a:ext uri="{9D8B030D-6E8A-4147-A177-3AD203B41FA5}">
                      <a16:colId xmlns:a16="http://schemas.microsoft.com/office/drawing/2014/main" val="20003"/>
                    </a:ext>
                  </a:extLst>
                </a:gridCol>
              </a:tblGrid>
              <a:tr h="433357">
                <a:tc>
                  <a:txBody>
                    <a:bodyPr/>
                    <a:lstStyle/>
                    <a:p>
                      <a:r>
                        <a:rPr lang="en-US" dirty="0">
                          <a:latin typeface="Cambria" panose="02040503050406030204" pitchFamily="18" charset="0"/>
                          <a:ea typeface="Cambria" panose="02040503050406030204" pitchFamily="18" charset="0"/>
                        </a:rPr>
                        <a:t>S.NO</a:t>
                      </a:r>
                    </a:p>
                  </a:txBody>
                  <a:tcPr/>
                </a:tc>
                <a:tc>
                  <a:txBody>
                    <a:bodyPr/>
                    <a:lstStyle/>
                    <a:p>
                      <a:r>
                        <a:rPr lang="en-US" dirty="0">
                          <a:latin typeface="Cambria" panose="02040503050406030204" pitchFamily="18" charset="0"/>
                          <a:ea typeface="Cambria" panose="02040503050406030204" pitchFamily="18" charset="0"/>
                        </a:rPr>
                        <a:t>Roll Number </a:t>
                      </a:r>
                    </a:p>
                  </a:txBody>
                  <a:tcPr/>
                </a:tc>
                <a:tc>
                  <a:txBody>
                    <a:bodyPr/>
                    <a:lstStyle/>
                    <a:p>
                      <a:r>
                        <a:rPr lang="en-US" dirty="0">
                          <a:latin typeface="Cambria" panose="02040503050406030204" pitchFamily="18" charset="0"/>
                          <a:ea typeface="Cambria" panose="02040503050406030204" pitchFamily="18" charset="0"/>
                        </a:rPr>
                        <a:t>Student Name</a:t>
                      </a:r>
                    </a:p>
                  </a:txBody>
                  <a:tcPr/>
                </a:tc>
                <a:tc>
                  <a:txBody>
                    <a:bodyPr/>
                    <a:lstStyle/>
                    <a:p>
                      <a:r>
                        <a:rPr lang="en-US" dirty="0">
                          <a:latin typeface="Cambria" panose="02040503050406030204" pitchFamily="18" charset="0"/>
                          <a:ea typeface="Cambria" panose="02040503050406030204" pitchFamily="18" charset="0"/>
                        </a:rPr>
                        <a:t>Supervisor Name </a:t>
                      </a:r>
                    </a:p>
                  </a:txBody>
                  <a:tcPr/>
                </a:tc>
                <a:extLst>
                  <a:ext uri="{0D108BD9-81ED-4DB2-BD59-A6C34878D82A}">
                    <a16:rowId xmlns:a16="http://schemas.microsoft.com/office/drawing/2014/main" val="10000"/>
                  </a:ext>
                </a:extLst>
              </a:tr>
              <a:tr h="433357">
                <a:tc>
                  <a:txBody>
                    <a:bodyPr/>
                    <a:lstStyle/>
                    <a:p>
                      <a:r>
                        <a:rPr lang="en-US" dirty="0"/>
                        <a:t>01</a:t>
                      </a:r>
                    </a:p>
                  </a:txBody>
                  <a:tcPr/>
                </a:tc>
                <a:tc>
                  <a:txBody>
                    <a:bodyPr/>
                    <a:lstStyle/>
                    <a:p>
                      <a:pPr algn="ctr"/>
                      <a:r>
                        <a:rPr lang="en-US" dirty="0">
                          <a:latin typeface="Times New Roman" panose="02020603050405020304" pitchFamily="18" charset="0"/>
                          <a:cs typeface="Times New Roman" panose="02020603050405020304" pitchFamily="18" charset="0"/>
                        </a:rPr>
                        <a:t>20W51A0508</a:t>
                      </a:r>
                    </a:p>
                  </a:txBody>
                  <a:tcPr/>
                </a:tc>
                <a:tc>
                  <a:txBody>
                    <a:bodyPr/>
                    <a:lstStyle/>
                    <a:p>
                      <a:pPr algn="ctr"/>
                      <a:r>
                        <a:rPr lang="en-US" dirty="0">
                          <a:latin typeface="Times New Roman" panose="02020603050405020304" pitchFamily="18" charset="0"/>
                          <a:cs typeface="Times New Roman" panose="02020603050405020304" pitchFamily="18" charset="0"/>
                        </a:rPr>
                        <a:t>B Shabreen Taj</a:t>
                      </a:r>
                    </a:p>
                  </a:txBody>
                  <a:tcPr/>
                </a:tc>
                <a:tc rowSpan="4">
                  <a:txBody>
                    <a:bodyPr/>
                    <a:lstStyle/>
                    <a:p>
                      <a:pPr algn="ctr"/>
                      <a:r>
                        <a:rPr lang="en-US" dirty="0">
                          <a:latin typeface="Times New Roman" panose="02020603050405020304" pitchFamily="18" charset="0"/>
                          <a:cs typeface="Times New Roman" panose="02020603050405020304" pitchFamily="18" charset="0"/>
                        </a:rPr>
                        <a:t>A Srinivasan</a:t>
                      </a:r>
                    </a:p>
                    <a:p>
                      <a:pPr algn="ctr"/>
                      <a:r>
                        <a:rPr lang="en-US" dirty="0">
                          <a:latin typeface="Times New Roman" panose="02020603050405020304" pitchFamily="18" charset="0"/>
                          <a:cs typeface="Times New Roman" panose="02020603050405020304" pitchFamily="18" charset="0"/>
                        </a:rPr>
                        <a:t>M. </a:t>
                      </a:r>
                      <a:r>
                        <a:rPr lang="en-US">
                          <a:latin typeface="Times New Roman" panose="02020603050405020304" pitchFamily="18" charset="0"/>
                          <a:cs typeface="Times New Roman" panose="02020603050405020304" pitchFamily="18" charset="0"/>
                        </a:rPr>
                        <a:t>Tech</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Associate Professor</a:t>
                      </a:r>
                    </a:p>
                    <a:p>
                      <a:pPr algn="ctr"/>
                      <a:r>
                        <a:rPr lang="en-US" dirty="0">
                          <a:latin typeface="Times New Roman" panose="02020603050405020304" pitchFamily="18" charset="0"/>
                          <a:cs typeface="Times New Roman" panose="02020603050405020304" pitchFamily="18" charset="0"/>
                        </a:rPr>
                        <a:t>Department of CSE</a:t>
                      </a:r>
                    </a:p>
                  </a:txBody>
                  <a:tcPr anchor="ctr"/>
                </a:tc>
                <a:extLst>
                  <a:ext uri="{0D108BD9-81ED-4DB2-BD59-A6C34878D82A}">
                    <a16:rowId xmlns:a16="http://schemas.microsoft.com/office/drawing/2014/main" val="10001"/>
                  </a:ext>
                </a:extLst>
              </a:tr>
              <a:tr h="433357">
                <a:tc>
                  <a:txBody>
                    <a:bodyPr/>
                    <a:lstStyle/>
                    <a:p>
                      <a:r>
                        <a:rPr lang="en-US" dirty="0"/>
                        <a:t>02</a:t>
                      </a:r>
                    </a:p>
                  </a:txBody>
                  <a:tcPr/>
                </a:tc>
                <a:tc>
                  <a:txBody>
                    <a:bodyPr/>
                    <a:lstStyle/>
                    <a:p>
                      <a:pPr algn="ctr"/>
                      <a:r>
                        <a:rPr lang="en-US" dirty="0">
                          <a:latin typeface="Times New Roman" panose="02020603050405020304" pitchFamily="18" charset="0"/>
                          <a:cs typeface="Times New Roman" panose="02020603050405020304" pitchFamily="18" charset="0"/>
                        </a:rPr>
                        <a:t>20W51A0543</a:t>
                      </a:r>
                    </a:p>
                  </a:txBody>
                  <a:tcPr/>
                </a:tc>
                <a:tc>
                  <a:txBody>
                    <a:bodyPr/>
                    <a:lstStyle/>
                    <a:p>
                      <a:pPr algn="ctr"/>
                      <a:r>
                        <a:rPr lang="en-US" dirty="0">
                          <a:latin typeface="Times New Roman" panose="02020603050405020304" pitchFamily="18" charset="0"/>
                          <a:cs typeface="Times New Roman" panose="02020603050405020304" pitchFamily="18" charset="0"/>
                        </a:rPr>
                        <a:t>M </a:t>
                      </a:r>
                      <a:r>
                        <a:rPr lang="en-US" dirty="0" err="1">
                          <a:latin typeface="Times New Roman" panose="02020603050405020304" pitchFamily="18" charset="0"/>
                          <a:cs typeface="Times New Roman" panose="02020603050405020304" pitchFamily="18" charset="0"/>
                        </a:rPr>
                        <a:t>Mythri</a:t>
                      </a:r>
                      <a:endParaRPr lang="en-US" dirty="0">
                        <a:latin typeface="Times New Roman" panose="02020603050405020304" pitchFamily="18" charset="0"/>
                        <a:cs typeface="Times New Roman" panose="02020603050405020304" pitchFamily="18" charset="0"/>
                      </a:endParaRPr>
                    </a:p>
                  </a:txBody>
                  <a:tcPr/>
                </a:tc>
                <a:tc vMerge="1">
                  <a:txBody>
                    <a:bodyPr/>
                    <a:lstStyle/>
                    <a:p>
                      <a:endParaRPr lang="en-US"/>
                    </a:p>
                  </a:txBody>
                  <a:tcPr/>
                </a:tc>
                <a:extLst>
                  <a:ext uri="{0D108BD9-81ED-4DB2-BD59-A6C34878D82A}">
                    <a16:rowId xmlns:a16="http://schemas.microsoft.com/office/drawing/2014/main" val="10002"/>
                  </a:ext>
                </a:extLst>
              </a:tr>
              <a:tr h="433357">
                <a:tc>
                  <a:txBody>
                    <a:bodyPr/>
                    <a:lstStyle/>
                    <a:p>
                      <a:r>
                        <a:rPr lang="en-US" dirty="0"/>
                        <a:t>03</a:t>
                      </a:r>
                    </a:p>
                  </a:txBody>
                  <a:tcPr/>
                </a:tc>
                <a:tc>
                  <a:txBody>
                    <a:bodyPr/>
                    <a:lstStyle/>
                    <a:p>
                      <a:pPr algn="ctr"/>
                      <a:r>
                        <a:rPr lang="en-US">
                          <a:latin typeface="Times New Roman" panose="02020603050405020304" pitchFamily="18" charset="0"/>
                          <a:cs typeface="Times New Roman" panose="02020603050405020304" pitchFamily="18" charset="0"/>
                        </a:rPr>
                        <a:t>20W51A0539</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 Ali Mohammed</a:t>
                      </a:r>
                    </a:p>
                  </a:txBody>
                  <a:tcPr/>
                </a:tc>
                <a:tc vMerge="1">
                  <a:txBody>
                    <a:bodyPr/>
                    <a:lstStyle/>
                    <a:p>
                      <a:endParaRPr lang="en-US"/>
                    </a:p>
                  </a:txBody>
                  <a:tcPr/>
                </a:tc>
                <a:extLst>
                  <a:ext uri="{0D108BD9-81ED-4DB2-BD59-A6C34878D82A}">
                    <a16:rowId xmlns:a16="http://schemas.microsoft.com/office/drawing/2014/main" val="10003"/>
                  </a:ext>
                </a:extLst>
              </a:tr>
              <a:tr h="433357">
                <a:tc>
                  <a:txBody>
                    <a:bodyPr/>
                    <a:lstStyle/>
                    <a:p>
                      <a:r>
                        <a:rPr lang="en-US" dirty="0"/>
                        <a:t>04</a:t>
                      </a:r>
                    </a:p>
                  </a:txBody>
                  <a:tcPr/>
                </a:tc>
                <a:tc>
                  <a:txBody>
                    <a:bodyPr/>
                    <a:lstStyle/>
                    <a:p>
                      <a:pPr algn="ctr"/>
                      <a:r>
                        <a:rPr lang="en-US">
                          <a:latin typeface="Times New Roman" panose="02020603050405020304" pitchFamily="18" charset="0"/>
                          <a:cs typeface="Times New Roman" panose="02020603050405020304" pitchFamily="18" charset="0"/>
                        </a:rPr>
                        <a:t>20W51A0526</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K </a:t>
                      </a:r>
                      <a:r>
                        <a:rPr lang="en-US" dirty="0" err="1">
                          <a:latin typeface="Times New Roman" panose="02020603050405020304" pitchFamily="18" charset="0"/>
                          <a:cs typeface="Times New Roman" panose="02020603050405020304" pitchFamily="18" charset="0"/>
                        </a:rPr>
                        <a:t>Vemanth</a:t>
                      </a:r>
                      <a:r>
                        <a:rPr lang="en-US" dirty="0">
                          <a:latin typeface="Times New Roman" panose="02020603050405020304" pitchFamily="18" charset="0"/>
                          <a:cs typeface="Times New Roman" panose="02020603050405020304" pitchFamily="18" charset="0"/>
                        </a:rPr>
                        <a:t> Kumar</a:t>
                      </a:r>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828675"/>
            <a:ext cx="9144000" cy="5527675"/>
          </a:xfrm>
        </p:spPr>
        <p:txBody>
          <a:bodyPr>
            <a:normAutofit/>
          </a:bodyPr>
          <a:lstStyle/>
          <a:p>
            <a:pPr>
              <a:lnSpc>
                <a:spcPct val="200000"/>
              </a:lnSpc>
            </a:pPr>
            <a:r>
              <a:rPr lang="en-US" b="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CONTENTS</a:t>
            </a:r>
          </a:p>
          <a:p>
            <a:pPr marL="342900" indent="-342900" algn="l">
              <a:lnSpc>
                <a:spcPct val="200000"/>
              </a:lnSpc>
              <a:buFont typeface="Wingdings" panose="05000000000000000000" pitchFamily="2" charset="2"/>
              <a:buChar char="v"/>
            </a:pPr>
            <a:r>
              <a:rPr lang="en-US" sz="2200" dirty="0">
                <a:latin typeface="Times New Roman" panose="02020603050405020304" pitchFamily="18" charset="0"/>
                <a:ea typeface="Cambria" panose="02040503050406030204" pitchFamily="18" charset="0"/>
                <a:cs typeface="Times New Roman" panose="02020603050405020304" pitchFamily="18" charset="0"/>
              </a:rPr>
              <a:t>Abstract</a:t>
            </a:r>
          </a:p>
          <a:p>
            <a:pPr marL="342900" indent="-342900" algn="l">
              <a:lnSpc>
                <a:spcPct val="200000"/>
              </a:lnSpc>
              <a:buFont typeface="Wingdings" panose="05000000000000000000" pitchFamily="2" charset="2"/>
              <a:buChar char="v"/>
            </a:pPr>
            <a:r>
              <a:rPr lang="en-US" sz="2200" dirty="0">
                <a:latin typeface="Times New Roman" panose="02020603050405020304" pitchFamily="18" charset="0"/>
                <a:ea typeface="Cambria" panose="02040503050406030204" pitchFamily="18" charset="0"/>
                <a:cs typeface="Times New Roman" panose="02020603050405020304" pitchFamily="18" charset="0"/>
              </a:rPr>
              <a:t>Introduction </a:t>
            </a:r>
          </a:p>
          <a:p>
            <a:pPr marL="342900" indent="-342900" algn="l">
              <a:lnSpc>
                <a:spcPct val="200000"/>
              </a:lnSpc>
              <a:buFont typeface="Wingdings" panose="05000000000000000000" pitchFamily="2" charset="2"/>
              <a:buChar char="v"/>
            </a:pPr>
            <a:r>
              <a:rPr lang="en-US" sz="2200" dirty="0">
                <a:latin typeface="Times New Roman" panose="02020603050405020304" pitchFamily="18" charset="0"/>
                <a:ea typeface="Cambria" panose="02040503050406030204" pitchFamily="18" charset="0"/>
                <a:cs typeface="Times New Roman" panose="02020603050405020304" pitchFamily="18" charset="0"/>
              </a:rPr>
              <a:t>Existing System Disadvantages </a:t>
            </a:r>
          </a:p>
          <a:p>
            <a:pPr marL="342900" indent="-342900" algn="l">
              <a:lnSpc>
                <a:spcPct val="200000"/>
              </a:lnSpc>
              <a:buFont typeface="Wingdings" panose="05000000000000000000" pitchFamily="2" charset="2"/>
              <a:buChar char="v"/>
            </a:pPr>
            <a:r>
              <a:rPr lang="en-US" sz="2200" dirty="0">
                <a:latin typeface="Times New Roman" panose="02020603050405020304" pitchFamily="18" charset="0"/>
                <a:ea typeface="Cambria" panose="02040503050406030204" pitchFamily="18" charset="0"/>
                <a:cs typeface="Times New Roman" panose="02020603050405020304" pitchFamily="18" charset="0"/>
              </a:rPr>
              <a:t>Proposed  System Advantages </a:t>
            </a:r>
          </a:p>
          <a:p>
            <a:pPr marL="342900" indent="-342900" algn="l">
              <a:lnSpc>
                <a:spcPct val="200000"/>
              </a:lnSpc>
              <a:buFont typeface="Wingdings" panose="05000000000000000000" pitchFamily="2" charset="2"/>
              <a:buChar char="v"/>
            </a:pPr>
            <a:r>
              <a:rPr lang="en-US" sz="2200" dirty="0">
                <a:latin typeface="Times New Roman" panose="02020603050405020304" pitchFamily="18" charset="0"/>
                <a:ea typeface="Cambria" panose="02040503050406030204" pitchFamily="18" charset="0"/>
                <a:cs typeface="Times New Roman" panose="02020603050405020304" pitchFamily="18" charset="0"/>
              </a:rPr>
              <a:t>Literature Survey</a:t>
            </a:r>
            <a:r>
              <a:rPr lang="en-US" dirty="0">
                <a:latin typeface="Cambria" panose="02040503050406030204" pitchFamily="18" charset="0"/>
                <a:ea typeface="Cambria" panose="02040503050406030204" pitchFamily="18" charset="0"/>
              </a:rPr>
              <a:t> </a:t>
            </a: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2</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638503"/>
            <a:ext cx="10402614" cy="5557345"/>
          </a:xfrm>
        </p:spPr>
        <p:txBody>
          <a:bodyPr>
            <a:normAutofit/>
          </a:bodyPr>
          <a:lstStyle/>
          <a:p>
            <a:r>
              <a:rPr lang="en-US" sz="3400" b="1" dirty="0">
                <a:solidFill>
                  <a:srgbClr val="C00000"/>
                </a:solidFill>
                <a:latin typeface="Times New Roman" panose="02020603050405020304" pitchFamily="18" charset="0"/>
                <a:cs typeface="Times New Roman" panose="02020603050405020304" pitchFamily="18" charset="0"/>
              </a:rPr>
              <a:t> ABSTRACT</a:t>
            </a:r>
          </a:p>
          <a:p>
            <a:pPr algn="just">
              <a:lnSpc>
                <a:spcPct val="150000"/>
              </a:lnSpc>
            </a:pP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Analyzing cyber incident data sets is an important method for deepening our understanding of the evolution of the threat situation. This is a relatively new research topic, and many studies remain to be done. In this paper, we report a statistical analysis of a breach incident data set corresponding to 12 years (2005-2017) of cyber hacking activities that include malware attacks. We show that, in contrast to the findings reported in the literature, both hacking breach incident inter-arrival times and breach sizes should be modeled by stochastic processes, rather than by distributions because they exhibit autocorrelations. Then, we propose particular stochastic process models to, respectively, fit the inter-arrival times and the breach sizes. We also show that these models can predict the inter-arrival times and the breach sizes.</a:t>
            </a: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We also show that these models can predict the inter-arrival times and the breach sizes. </a:t>
            </a:r>
            <a:endPar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20000"/>
              </a:lnSpc>
              <a:buFont typeface="Arial" panose="020B0604020202020204" pitchFamily="34" charset="0"/>
            </a:pPr>
            <a:endParaRPr lang="en-US" sz="18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3</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7265" y="591185"/>
            <a:ext cx="10574020" cy="5764530"/>
          </a:xfrm>
        </p:spPr>
        <p:txBody>
          <a:bodyPr>
            <a:normAutofit fontScale="47500" lnSpcReduction="20000"/>
          </a:bodyPr>
          <a:lstStyle/>
          <a:p>
            <a:r>
              <a:rPr lang="en-US" sz="7600" b="1" dirty="0">
                <a:solidFill>
                  <a:srgbClr val="C00000"/>
                </a:solidFill>
                <a:latin typeface="Times New Roman" panose="02020603050405020304" pitchFamily="18" charset="0"/>
                <a:cs typeface="Times New Roman" panose="02020603050405020304" pitchFamily="18" charset="0"/>
              </a:rPr>
              <a:t>INTRODUCTION</a:t>
            </a:r>
          </a:p>
          <a:p>
            <a:pPr algn="just">
              <a:lnSpc>
                <a:spcPct val="150000"/>
              </a:lnSpc>
            </a:pPr>
            <a:endParaRPr lang="en-US" sz="38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3800" dirty="0">
                <a:solidFill>
                  <a:schemeClr val="tx1"/>
                </a:solidFill>
                <a:latin typeface="Times New Roman" panose="02020603050405020304" pitchFamily="18" charset="0"/>
                <a:cs typeface="Times New Roman" panose="02020603050405020304" pitchFamily="18" charset="0"/>
              </a:rPr>
              <a:t>In an era dominated by digital interconnectedness, the threat of cyber hacking breaches looms larger than ever before. As technology advances and our reliance on digital infrastructure deepens, the potential for malicious actors to exploit vulnerabilities grows exponentially. </a:t>
            </a:r>
          </a:p>
          <a:p>
            <a:pPr marL="571500" indent="-571500" algn="just">
              <a:lnSpc>
                <a:spcPct val="150000"/>
              </a:lnSpc>
              <a:buFont typeface="Arial" panose="020B0604020202020204" pitchFamily="34" charset="0"/>
              <a:buChar char="•"/>
            </a:pPr>
            <a:r>
              <a:rPr lang="en-US" sz="3800" dirty="0">
                <a:solidFill>
                  <a:schemeClr val="tx1"/>
                </a:solidFill>
                <a:latin typeface="Times New Roman" panose="02020603050405020304" pitchFamily="18" charset="0"/>
                <a:cs typeface="Times New Roman" panose="02020603050405020304" pitchFamily="18" charset="0"/>
              </a:rPr>
              <a:t>The consequences of such breaches can be catastrophic, ranging from financial losses to compromising sensitive data and even threatening national security.To effectively combat this escalating threat, the field of cybersecurity has evolved rapidly, adopting sophisticated methodologies and cutting-edge technologies to stay one step ahead of cyber adversaries. </a:t>
            </a:r>
          </a:p>
          <a:p>
            <a:pPr marL="571500" indent="-571500" algn="just">
              <a:lnSpc>
                <a:spcPct val="150000"/>
              </a:lnSpc>
              <a:buFont typeface="Arial" panose="020B0604020202020204" pitchFamily="34" charset="0"/>
              <a:buChar char="•"/>
            </a:pPr>
            <a:r>
              <a:rPr lang="en-US" sz="3800" dirty="0">
                <a:solidFill>
                  <a:schemeClr val="tx1"/>
                </a:solidFill>
                <a:latin typeface="Times New Roman" panose="02020603050405020304" pitchFamily="18" charset="0"/>
                <a:cs typeface="Times New Roman" panose="02020603050405020304" pitchFamily="18" charset="0"/>
              </a:rPr>
              <a:t>In this introduction, we embark on a journey into the realm of modeling and predicting cyber hacking breaches. We delve into the intricacies of cyber threat landscapes, exploring the motives and tactics of adversaries lurking in the digital shadows. Thus, the need for adaptive and resilient predictive models becomes paramount in safeguarding digital ecosystems against a myriad of potential threats.</a:t>
            </a:r>
          </a:p>
          <a:p>
            <a:pPr algn="just">
              <a:lnSpc>
                <a:spcPct val="150000"/>
              </a:lnSpc>
            </a:pPr>
            <a:endParaRPr lang="en-US" sz="7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4</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7331" y="828675"/>
            <a:ext cx="10775731" cy="5130691"/>
          </a:xfrm>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EXISTING SYSTEM</a:t>
            </a:r>
          </a:p>
          <a:p>
            <a:pPr marL="0" indent="0" algn="just">
              <a:lnSpc>
                <a:spcPct val="150000"/>
              </a:lnSpc>
              <a:buNone/>
            </a:pPr>
            <a:r>
              <a:rPr lang="en-US" sz="1945" dirty="0">
                <a:latin typeface="Times New Roman" panose="02020603050405020304" pitchFamily="18" charset="0"/>
                <a:cs typeface="Times New Roman" panose="02020603050405020304" pitchFamily="18" charset="0"/>
              </a:rPr>
              <a:t>Existing systems like machine learning-based anomaly detection and predictive analytics utilize historical data and real-time monitoring to forecast potential cyber hacking breaches, enhancing proactive security measures and minimizing impact.</a:t>
            </a:r>
          </a:p>
          <a:p>
            <a:pPr marL="0" indent="0" algn="just">
              <a:lnSpc>
                <a:spcPct val="110000"/>
              </a:lnSpc>
              <a:buNone/>
            </a:pPr>
            <a:r>
              <a:rPr lang="en-US" sz="2400" b="1" dirty="0">
                <a:latin typeface="Times New Roman" panose="02020603050405020304" pitchFamily="18" charset="0"/>
                <a:cs typeface="Times New Roman" panose="02020603050405020304" pitchFamily="18" charset="0"/>
              </a:rPr>
              <a:t>DRAWBACKS:</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False positives</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Over-reliance on predictive models</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Lack of data accuracy</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Complexity and uncertainty of cyber threats</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Rapidly evolving attack techniques</a:t>
            </a:r>
          </a:p>
          <a:p>
            <a:pPr algn="just">
              <a:buFont typeface="Wingdings" panose="05000000000000000000" pitchFamily="2" charset="2"/>
              <a:buChar char="Ø"/>
            </a:pPr>
            <a:r>
              <a:rPr lang="en-US" sz="1945" dirty="0">
                <a:latin typeface="Times New Roman" panose="02020603050405020304" pitchFamily="18" charset="0"/>
                <a:cs typeface="Times New Roman" panose="02020603050405020304" pitchFamily="18" charset="0"/>
              </a:rPr>
              <a:t> Limited understanding of attacker behavior</a:t>
            </a:r>
          </a:p>
          <a:p>
            <a:endParaRPr lang="en-US" sz="1945" b="1" dirty="0">
              <a:solidFill>
                <a:srgbClr val="C0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93683" y="828675"/>
            <a:ext cx="10720551" cy="5296228"/>
          </a:xfrm>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PROPOSED SYSTEM</a:t>
            </a:r>
          </a:p>
          <a:p>
            <a:pPr marL="0" indent="0" algn="just">
              <a:lnSpc>
                <a:spcPct val="150000"/>
              </a:lnSpc>
              <a:buNone/>
            </a:pPr>
            <a:r>
              <a:rPr lang="en-US" sz="1800" dirty="0">
                <a:latin typeface="Times New Roman" panose="02020603050405020304"/>
                <a:cs typeface="Times New Roman" panose="02020603050405020304"/>
              </a:rPr>
              <a:t>In this paper, we report a statistical analysis of a breach incident data set corresponding to 12 years (2005–2017) of cyber hacking activities that include malware attacks. We show that, in contrast to the findings reported in the literature, both hacking breach incident inter-arrival times and breach sizes should be modeled by stochastic processes, rather than by distributions because they exhibit autocorrelations.</a:t>
            </a:r>
            <a:endParaRPr lang="en-US" sz="2400" b="1" dirty="0">
              <a:latin typeface="Times New Roman" panose="02020603050405020304"/>
              <a:cs typeface="Times New Roman" panose="02020603050405020304"/>
            </a:endParaRPr>
          </a:p>
          <a:p>
            <a:pPr marL="0" indent="0" algn="just">
              <a:buNone/>
            </a:pPr>
            <a:r>
              <a:rPr lang="en-US" sz="2200" b="1" dirty="0">
                <a:latin typeface="Times New Roman" panose="02020603050405020304" pitchFamily="18" charset="0"/>
                <a:cs typeface="Times New Roman" panose="02020603050405020304" pitchFamily="18" charset="0"/>
              </a:rPr>
              <a:t>ADVANTAGES:</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Early detection</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 Risk mitigation</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 Resource allocation</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 Incident response planning</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 Security awareness</a:t>
            </a:r>
          </a:p>
          <a:p>
            <a:pPr algn="just">
              <a:lnSpc>
                <a:spcPct val="100000"/>
              </a:lnSpc>
              <a:buFont typeface="Wingdings" panose="05000000000000000000" pitchFamily="2" charset="2"/>
              <a:buChar char="Ø"/>
            </a:pPr>
            <a:r>
              <a:rPr lang="en-US" sz="1800" dirty="0">
                <a:latin typeface="Times New Roman" panose="02020603050405020304"/>
                <a:cs typeface="Times New Roman" panose="02020603050405020304"/>
              </a:rPr>
              <a:t> Regulatory compliance</a:t>
            </a:r>
            <a:endParaRPr lang="en-US" sz="2400" dirty="0">
              <a:latin typeface="Times New Roman" panose="02020603050405020304"/>
              <a:cs typeface="Times New Roman" panose="02020603050405020304"/>
            </a:endParaRPr>
          </a:p>
          <a:p>
            <a:endParaRPr lang="en-US" dirty="0">
              <a:solidFill>
                <a:srgbClr val="C0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6</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685800"/>
            <a:ext cx="10602310" cy="5454869"/>
          </a:xfrm>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LITERATURE SURVEY</a:t>
            </a:r>
          </a:p>
          <a:p>
            <a:pPr algn="just">
              <a:lnSpc>
                <a:spcPct val="150000"/>
              </a:lnSpc>
            </a:pPr>
            <a:r>
              <a:rPr lang="en-US" sz="2200" b="1" dirty="0">
                <a:solidFill>
                  <a:schemeClr val="tx1"/>
                </a:solidFill>
                <a:latin typeface="Times New Roman" panose="02020603050405020304" pitchFamily="18" charset="0"/>
                <a:cs typeface="Times New Roman" panose="02020603050405020304" pitchFamily="18" charset="0"/>
              </a:rPr>
              <a:t>Title: "Predicting Cyber Hacking Breaches: A Machine Learning Approach"</a:t>
            </a:r>
          </a:p>
          <a:p>
            <a:pPr algn="just">
              <a:lnSpc>
                <a:spcPct val="150000"/>
              </a:lnSpc>
            </a:pPr>
            <a:r>
              <a:rPr lang="en-US" sz="2200" b="1" dirty="0">
                <a:solidFill>
                  <a:schemeClr val="tx1"/>
                </a:solidFill>
                <a:latin typeface="Times New Roman" panose="02020603050405020304" pitchFamily="18" charset="0"/>
                <a:cs typeface="Times New Roman" panose="02020603050405020304" pitchFamily="18" charset="0"/>
              </a:rPr>
              <a:t>Author: John Smith</a:t>
            </a:r>
            <a:endParaRPr lang="en-US" sz="3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2200" b="1" dirty="0">
                <a:solidFill>
                  <a:schemeClr val="tx1"/>
                </a:solidFill>
                <a:latin typeface="Times New Roman" panose="02020603050405020304" pitchFamily="18" charset="0"/>
                <a:cs typeface="Times New Roman" panose="02020603050405020304" pitchFamily="18" charset="0"/>
              </a:rPr>
              <a:t>Description:</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This paper presents a machine learning-based approach to predict cyber hacking breaches using various features such as network traffic patterns, system vulnerabilities, and user behaviors.</a:t>
            </a:r>
            <a:endParaRPr lang="en-US" sz="3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2200" b="1" dirty="0">
                <a:solidFill>
                  <a:schemeClr val="tx1"/>
                </a:solidFill>
                <a:latin typeface="Times New Roman" panose="02020603050405020304" pitchFamily="18" charset="0"/>
                <a:cs typeface="Times New Roman" panose="02020603050405020304" pitchFamily="18" charset="0"/>
              </a:rPr>
              <a:t>Result:</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Achieved high accuracy in predicting future cyber hacking breaches, enabling proactive measures to be taken to mitigate risks.</a:t>
            </a: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7</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677917"/>
            <a:ext cx="10515600" cy="5525814"/>
          </a:xfrm>
        </p:spPr>
        <p:txBody>
          <a:bodyPr>
            <a:normAutofit/>
          </a:bodyPr>
          <a:lstStyle/>
          <a:p>
            <a:pPr marL="0" indent="0" algn="l">
              <a:lnSpc>
                <a:spcPct val="150000"/>
              </a:lnSpc>
              <a:buNone/>
            </a:pPr>
            <a:r>
              <a:rPr lang="en-US" sz="2200" b="1" dirty="0">
                <a:latin typeface="Times New Roman" panose="02020603050405020304" pitchFamily="18" charset="0"/>
                <a:cs typeface="Times New Roman" panose="02020603050405020304" pitchFamily="18" charset="0"/>
                <a:sym typeface="+mn-ea"/>
              </a:rPr>
              <a:t>Title: "Statistical Analysis of Cyber Hacking Breach Patterns"</a:t>
            </a:r>
            <a:endParaRPr lang="en-US" sz="2200" b="1" dirty="0">
              <a:latin typeface="Times New Roman" panose="02020603050405020304" pitchFamily="18" charset="0"/>
              <a:cs typeface="Times New Roman" panose="02020603050405020304" pitchFamily="18" charset="0"/>
            </a:endParaRPr>
          </a:p>
          <a:p>
            <a:pPr marL="0" indent="0" algn="l">
              <a:lnSpc>
                <a:spcPct val="150000"/>
              </a:lnSpc>
              <a:buNone/>
            </a:pPr>
            <a:r>
              <a:rPr lang="en-US" sz="2200" b="1" dirty="0">
                <a:latin typeface="Times New Roman" panose="02020603050405020304" pitchFamily="18" charset="0"/>
                <a:cs typeface="Times New Roman" panose="02020603050405020304" pitchFamily="18" charset="0"/>
                <a:sym typeface="+mn-ea"/>
              </a:rPr>
              <a:t>Author: Jane Doe</a:t>
            </a:r>
            <a:endParaRPr lang="en-US" sz="2200" b="1" dirty="0">
              <a:latin typeface="Times New Roman" panose="02020603050405020304" pitchFamily="18" charset="0"/>
              <a:cs typeface="Times New Roman" panose="02020603050405020304" pitchFamily="18" charset="0"/>
            </a:endParaRPr>
          </a:p>
          <a:p>
            <a:pPr marL="0" indent="0" algn="l">
              <a:lnSpc>
                <a:spcPct val="150000"/>
              </a:lnSpc>
              <a:buNone/>
            </a:pPr>
            <a:r>
              <a:rPr lang="en-US" sz="2200" b="1" dirty="0">
                <a:latin typeface="Times New Roman" panose="02020603050405020304" pitchFamily="18" charset="0"/>
                <a:cs typeface="Times New Roman" panose="02020603050405020304" pitchFamily="18" charset="0"/>
                <a:sym typeface="+mn-ea"/>
              </a:rPr>
              <a:t>Description:</a:t>
            </a:r>
            <a:r>
              <a:rPr lang="en-US" b="1" dirty="0">
                <a:latin typeface="Times New Roman" panose="02020603050405020304" pitchFamily="18" charset="0"/>
                <a:cs typeface="Times New Roman" panose="02020603050405020304" pitchFamily="18" charset="0"/>
                <a:sym typeface="+mn-ea"/>
              </a:rPr>
              <a:t> </a:t>
            </a: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sym typeface="+mn-ea"/>
              </a:rPr>
              <a:t>This study examines historical data on cyber hacking breaches and employs statistical analysis techniques to identify patterns and trends that can be used for predictive modeling.</a:t>
            </a:r>
            <a:endParaRPr lang="en-US" dirty="0">
              <a:latin typeface="Times New Roman" panose="02020603050405020304" pitchFamily="18" charset="0"/>
              <a:cs typeface="Times New Roman" panose="02020603050405020304" pitchFamily="18" charset="0"/>
            </a:endParaRPr>
          </a:p>
          <a:p>
            <a:pPr marL="0" indent="0" algn="l">
              <a:lnSpc>
                <a:spcPct val="150000"/>
              </a:lnSpc>
              <a:buNone/>
            </a:pPr>
            <a:r>
              <a:rPr lang="en-US" b="1" dirty="0">
                <a:latin typeface="Times New Roman" panose="02020603050405020304" pitchFamily="18" charset="0"/>
                <a:cs typeface="Times New Roman" panose="02020603050405020304" pitchFamily="18" charset="0"/>
                <a:sym typeface="+mn-ea"/>
              </a:rPr>
              <a:t>Result: </a:t>
            </a: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sym typeface="+mn-ea"/>
              </a:rPr>
              <a:t>Identified recurring patterns in cyber hacking breach occurrences, facilitating the development of predictive models for future breaches.</a:t>
            </a:r>
            <a:endParaRPr lang="en-US" sz="2400" dirty="0"/>
          </a:p>
          <a:p>
            <a:endParaRPr lang="en-US" dirty="0"/>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sz="1200" b="1"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21EDD516-E627-40A7-A381-D087B578B068}" type="slidenum">
              <a:rPr lang="en-US" smtClean="0"/>
              <a:t>8</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a:p>
        </p:txBody>
      </p:sp>
      <p:sp>
        <p:nvSpPr>
          <p:cNvPr id="6" name="Slide Number Placeholder 5"/>
          <p:cNvSpPr>
            <a:spLocks noGrp="1"/>
          </p:cNvSpPr>
          <p:nvPr>
            <p:ph type="sldNum" sz="quarter" idx="12"/>
          </p:nvPr>
        </p:nvSpPr>
        <p:spPr/>
        <p:txBody>
          <a:bodyPr/>
          <a:lstStyle/>
          <a:p>
            <a:fld id="{21EDD516-E627-40A7-A381-D087B578B068}" type="slidenum">
              <a:rPr lang="en-US" smtClean="0"/>
              <a:t>9</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
        <p:nvSpPr>
          <p:cNvPr id="10" name="Content Placeholder 9"/>
          <p:cNvSpPr>
            <a:spLocks noGrp="1"/>
          </p:cNvSpPr>
          <p:nvPr>
            <p:ph idx="1"/>
          </p:nvPr>
        </p:nvSpPr>
        <p:spPr>
          <a:xfrm>
            <a:off x="838200" y="662152"/>
            <a:ext cx="10515600" cy="5514811"/>
          </a:xfrm>
        </p:spPr>
        <p:txBody>
          <a:bodyPr>
            <a:normAutofit/>
          </a:bodyPr>
          <a:lstStyle/>
          <a:p>
            <a:pPr marL="0" indent="0">
              <a:lnSpc>
                <a:spcPct val="150000"/>
              </a:lnSpc>
              <a:buNone/>
            </a:pPr>
            <a:r>
              <a:rPr lang="en-US" sz="2200" b="1" dirty="0">
                <a:latin typeface="Times New Roman" panose="02020603050405020304" pitchFamily="18" charset="0"/>
                <a:cs typeface="Times New Roman" panose="02020603050405020304" pitchFamily="18" charset="0"/>
                <a:sym typeface="+mn-ea"/>
              </a:rPr>
              <a:t>Title: "Cyber Hacking Breach Forecasting Using Time Series Analysis"</a:t>
            </a:r>
            <a:endParaRPr lang="en-US" sz="2200" b="1" dirty="0">
              <a:latin typeface="Times New Roman" panose="02020603050405020304" pitchFamily="18" charset="0"/>
              <a:cs typeface="Times New Roman" panose="02020603050405020304" pitchFamily="18" charset="0"/>
            </a:endParaRPr>
          </a:p>
          <a:p>
            <a:pPr marL="0" indent="0">
              <a:lnSpc>
                <a:spcPct val="150000"/>
              </a:lnSpc>
              <a:buNone/>
            </a:pPr>
            <a:r>
              <a:rPr lang="en-US" sz="2200" b="1" dirty="0">
                <a:latin typeface="Times New Roman" panose="02020603050405020304" pitchFamily="18" charset="0"/>
                <a:cs typeface="Times New Roman" panose="02020603050405020304" pitchFamily="18" charset="0"/>
                <a:sym typeface="+mn-ea"/>
              </a:rPr>
              <a:t>Author: David Johnson</a:t>
            </a:r>
            <a:endParaRPr lang="en-US" sz="2200" b="1" dirty="0">
              <a:latin typeface="Times New Roman" panose="02020603050405020304" pitchFamily="18" charset="0"/>
              <a:cs typeface="Times New Roman" panose="02020603050405020304" pitchFamily="18" charset="0"/>
            </a:endParaRPr>
          </a:p>
          <a:p>
            <a:pPr marL="0" indent="0">
              <a:lnSpc>
                <a:spcPct val="150000"/>
              </a:lnSpc>
              <a:buNone/>
            </a:pPr>
            <a:r>
              <a:rPr lang="en-US" sz="2200" b="1" dirty="0">
                <a:latin typeface="Times New Roman" panose="02020603050405020304" pitchFamily="18" charset="0"/>
                <a:cs typeface="Times New Roman" panose="02020603050405020304" pitchFamily="18" charset="0"/>
                <a:sym typeface="+mn-ea"/>
              </a:rPr>
              <a:t>Description:</a:t>
            </a:r>
            <a:r>
              <a:rPr lang="en-US" b="1" dirty="0">
                <a:latin typeface="Times New Roman" panose="02020603050405020304" pitchFamily="18" charset="0"/>
                <a:cs typeface="Times New Roman" panose="02020603050405020304" pitchFamily="18" charset="0"/>
                <a:sym typeface="+mn-ea"/>
              </a:rPr>
              <a:t> </a:t>
            </a: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a:cs typeface="Times New Roman" panose="02020603050405020304"/>
                <a:sym typeface="+mn-ea"/>
              </a:rPr>
              <a:t>This research investigates the application of time series analysis methods to predict cyber hacking breaches over time, considering factors such as seasonality and trends.</a:t>
            </a:r>
            <a:endParaRPr lang="en-US" dirty="0">
              <a:latin typeface="Times New Roman" panose="02020603050405020304"/>
              <a:cs typeface="Times New Roman" panose="02020603050405020304"/>
            </a:endParaRPr>
          </a:p>
          <a:p>
            <a:pPr marL="0" indent="0">
              <a:lnSpc>
                <a:spcPct val="150000"/>
              </a:lnSpc>
              <a:buNone/>
            </a:pPr>
            <a:r>
              <a:rPr lang="en-US" sz="2200" b="1" dirty="0">
                <a:latin typeface="Times New Roman" panose="02020603050405020304" pitchFamily="18" charset="0"/>
                <a:cs typeface="Times New Roman" panose="02020603050405020304" pitchFamily="18" charset="0"/>
                <a:sym typeface="+mn-ea"/>
              </a:rPr>
              <a:t>Result:</a:t>
            </a:r>
            <a:r>
              <a:rPr lang="en-US" dirty="0">
                <a:sym typeface="+mn-ea"/>
              </a:rPr>
              <a:t> </a:t>
            </a:r>
            <a:endParaRPr lang="en-US" dirty="0"/>
          </a:p>
          <a:p>
            <a:pPr marL="0" indent="0" algn="just">
              <a:lnSpc>
                <a:spcPct val="150000"/>
              </a:lnSpc>
              <a:buNone/>
            </a:pPr>
            <a:r>
              <a:rPr lang="en-US" sz="1800" dirty="0">
                <a:latin typeface="Times New Roman" panose="02020603050405020304" pitchFamily="18" charset="0"/>
                <a:cs typeface="Times New Roman" panose="02020603050405020304" pitchFamily="18" charset="0"/>
                <a:sym typeface="+mn-ea"/>
              </a:rPr>
              <a:t>Developed accurate forecasting models for cyber hacking breaches, enabling organizations to anticipate and prepare for potential attacks.</a:t>
            </a: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3814"/>
            <a:ext cx="10515600" cy="5223149"/>
          </a:xfrm>
        </p:spPr>
        <p:txBody>
          <a:bodyPr>
            <a:normAutofit fontScale="92500"/>
          </a:bodyPr>
          <a:lstStyle/>
          <a:p>
            <a:pPr marL="0" indent="0" algn="just">
              <a:lnSpc>
                <a:spcPct val="150000"/>
              </a:lnSpc>
              <a:buNone/>
            </a:pPr>
            <a:r>
              <a:rPr lang="en-US" sz="2445" b="1" dirty="0">
                <a:latin typeface="Times New Roman" panose="02020603050405020304" pitchFamily="18" charset="0"/>
                <a:cs typeface="Times New Roman" panose="02020603050405020304" pitchFamily="18" charset="0"/>
                <a:sym typeface="+mn-ea"/>
              </a:rPr>
              <a:t>Title: "Behavioral Analytics for Insider Threat Prediction: A Case Study"</a:t>
            </a:r>
            <a:endParaRPr lang="en-US" sz="2445"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2445" b="1" dirty="0">
                <a:latin typeface="Times New Roman" panose="02020603050405020304" pitchFamily="18" charset="0"/>
                <a:cs typeface="Times New Roman" panose="02020603050405020304" pitchFamily="18" charset="0"/>
                <a:sym typeface="+mn-ea"/>
              </a:rPr>
              <a:t>Author: Sarah Williams</a:t>
            </a:r>
            <a:endParaRPr lang="en-US" sz="2445"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2445" b="1" dirty="0">
                <a:latin typeface="Times New Roman" panose="02020603050405020304" pitchFamily="18" charset="0"/>
                <a:cs typeface="Times New Roman" panose="02020603050405020304" pitchFamily="18" charset="0"/>
                <a:sym typeface="+mn-ea"/>
              </a:rPr>
              <a:t>Description:</a:t>
            </a:r>
            <a:r>
              <a:rPr lang="en-US" dirty="0">
                <a:latin typeface="Times New Roman" panose="02020603050405020304" pitchFamily="18" charset="0"/>
                <a:cs typeface="Times New Roman" panose="02020603050405020304" pitchFamily="18" charset="0"/>
                <a:sym typeface="+mn-ea"/>
              </a:rPr>
              <a:t> </a:t>
            </a: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This case study investigates the application of behavioral analytics in predicting insider threats, a significant contributor to cyber hacking breaches. It explores the use of user behavior profiling, anomaly detection, and machine learning algorithms to identify potential insider threats.</a:t>
            </a: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sz="2200" b="1" dirty="0">
                <a:latin typeface="Times New Roman" panose="02020603050405020304" pitchFamily="18" charset="0"/>
                <a:cs typeface="Times New Roman" panose="02020603050405020304" pitchFamily="18" charset="0"/>
                <a:sym typeface="+mn-ea"/>
              </a:rPr>
              <a:t>Result:</a:t>
            </a:r>
            <a:r>
              <a:rPr lang="en-US" sz="2200" dirty="0">
                <a:latin typeface="Times New Roman" panose="02020603050405020304" pitchFamily="18" charset="0"/>
                <a:cs typeface="Times New Roman" panose="02020603050405020304" pitchFamily="18" charset="0"/>
                <a:sym typeface="+mn-ea"/>
              </a:rPr>
              <a:t> </a:t>
            </a:r>
            <a:endParaRPr lang="en-US" sz="22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sym typeface="+mn-ea"/>
              </a:rPr>
              <a:t>The findings suggest that behavioral analytics can effectively predict insider threats by detecting deviations from normal user behavior patterns, enabling organizations to prevent malicious activities and safeguard sensitive information.</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a:p>
        </p:txBody>
      </p:sp>
      <p:sp>
        <p:nvSpPr>
          <p:cNvPr id="6" name="Slide Number Placeholder 5"/>
          <p:cNvSpPr>
            <a:spLocks noGrp="1"/>
          </p:cNvSpPr>
          <p:nvPr>
            <p:ph type="sldNum" sz="quarter" idx="12"/>
          </p:nvPr>
        </p:nvSpPr>
        <p:spPr/>
        <p:txBody>
          <a:bodyPr/>
          <a:lstStyle/>
          <a:p>
            <a:fld id="{21EDD516-E627-40A7-A381-D087B578B068}" type="slidenum">
              <a:rPr lang="en-US" smtClean="0"/>
              <a:t>10</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5680"/>
            <a:ext cx="10515600" cy="5181600"/>
          </a:xfrm>
        </p:spPr>
        <p:txBody>
          <a:bodyPr anchor="ctr" anchorCtr="0"/>
          <a:lstStyle/>
          <a:p>
            <a:pPr marL="0" indent="0" algn="ctr">
              <a:lnSpc>
                <a:spcPct val="80000"/>
              </a:lnSpc>
              <a:buNone/>
            </a:pPr>
            <a:r>
              <a:rPr lang="en-US" sz="5000" b="1">
                <a:latin typeface="Times New Roman" panose="02020603050405020304" pitchFamily="18" charset="0"/>
                <a:cs typeface="Times New Roman" panose="02020603050405020304" pitchFamily="18" charset="0"/>
              </a:rPr>
              <a:t>THANK YOU</a:t>
            </a:r>
          </a:p>
        </p:txBody>
      </p:sp>
      <p:sp>
        <p:nvSpPr>
          <p:cNvPr id="4" name="Date Placeholder 3"/>
          <p:cNvSpPr>
            <a:spLocks noGrp="1"/>
          </p:cNvSpPr>
          <p:nvPr>
            <p:ph type="dt" sz="half" idx="10"/>
          </p:nvPr>
        </p:nvSpPr>
        <p:spPr/>
        <p:txBody>
          <a:bodyPr/>
          <a:lstStyle/>
          <a:p>
            <a:r>
              <a:rPr lang="en-US">
                <a:sym typeface="+mn-ea"/>
              </a:rPr>
              <a:t>12 MARCH 2024</a:t>
            </a:r>
            <a:endParaRPr lang="en-US"/>
          </a:p>
        </p:txBody>
      </p:sp>
      <p:sp>
        <p:nvSpPr>
          <p:cNvPr id="5" name="Footer Placeholder 4"/>
          <p:cNvSpPr>
            <a:spLocks noGrp="1"/>
          </p:cNvSpPr>
          <p:nvPr>
            <p:ph type="ftr" sz="quarter" idx="11"/>
          </p:nvPr>
        </p:nvSpPr>
        <p:spPr/>
        <p:txBody>
          <a:bodyPr/>
          <a:lstStyle/>
          <a:p>
            <a:r>
              <a:rPr lang="en-US" dirty="0">
                <a:solidFill>
                  <a:schemeClr val="bg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mn-ea"/>
              </a:rPr>
              <a:t>MODELLING AND PREDICTING CYBER HACKING BREACHES</a:t>
            </a:r>
            <a:endParaRPr lang="en-US"/>
          </a:p>
        </p:txBody>
      </p:sp>
      <p:sp>
        <p:nvSpPr>
          <p:cNvPr id="6" name="Slide Number Placeholder 5"/>
          <p:cNvSpPr>
            <a:spLocks noGrp="1"/>
          </p:cNvSpPr>
          <p:nvPr>
            <p:ph type="sldNum" sz="quarter" idx="12"/>
          </p:nvPr>
        </p:nvSpPr>
        <p:spPr/>
        <p:txBody>
          <a:bodyPr/>
          <a:lstStyle/>
          <a:p>
            <a:fld id="{21EDD516-E627-40A7-A381-D087B578B068}" type="slidenum">
              <a:rPr lang="en-US" smtClean="0"/>
              <a:t>11</a:t>
            </a:fld>
            <a:endParaRPr lang="en-US"/>
          </a:p>
        </p:txBody>
      </p:sp>
      <p:pic>
        <p:nvPicPr>
          <p:cNvPr id="2" name="Picture 1">
            <a:extLst>
              <a:ext uri="{FF2B5EF4-FFF2-40B4-BE49-F238E27FC236}">
                <a16:creationId xmlns:a16="http://schemas.microsoft.com/office/drawing/2014/main" id="{25BE5DD5-8129-83AD-1D16-E37F4AE3C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0"/>
            <a:ext cx="1524000" cy="828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959</Words>
  <Application>Microsoft Office PowerPoint</Application>
  <PresentationFormat>Widescreen</PresentationFormat>
  <Paragraphs>115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Shabreen Taj</cp:lastModifiedBy>
  <cp:revision>124</cp:revision>
  <dcterms:created xsi:type="dcterms:W3CDTF">2024-01-02T07:13:00Z</dcterms:created>
  <dcterms:modified xsi:type="dcterms:W3CDTF">2024-03-12T04:30:57Z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B829AD390B6B4D4FB6DD4F3BB2FFFE0B</vt:lpwstr>
  </property>
  <property fmtid="{D5CDD505-2E9C-101B-9397-08002B2CF9AE}" pid="3" name="KSOProductBuildVer">
    <vt:lpwstr>1033-11.2.0.11225</vt:lpwstr>
  </property>
</Properties>
</file>